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036259-4A5F-4EC2-B1B8-132D9515B8A7}">
  <a:tblStyle styleId="{6D036259-4A5F-4EC2-B1B8-132D9515B8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1b11232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1b11232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103c70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c103c70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1b11232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1b11232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c1b11232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c1b11232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103c70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c103c70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c103c70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c103c70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c1b11232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c1b11232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c1b11232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c1b11232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200b46d0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200b46d0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c103c70c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c103c70c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c103c70c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c103c70c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c103c70c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c103c70c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200b46d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200b46d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c103c70c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c103c70c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c1b11232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c1b11232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c1b11232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c1b11232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c1b11232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c1b11232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103c70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c103c70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103c70c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c103c70c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afiskon" TargetMode="External"/><Relationship Id="rId4" Type="http://schemas.openxmlformats.org/officeDocument/2006/relationships/hyperlink" Target="https://github.com/afiskon/stm32-ssd1306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60975" y="269925"/>
            <a:ext cx="66351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Hot-Swappable Machine Learning Model at the Edge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320850" y="3476200"/>
            <a:ext cx="25830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Guided By: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Mr. Rhugved Rane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58" name="Google Shape;58;p13"/>
          <p:cNvGraphicFramePr/>
          <p:nvPr/>
        </p:nvGraphicFramePr>
        <p:xfrm>
          <a:off x="299925" y="232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{6D036259-4A5F-4EC2-B1B8-132D9515B8A7}</a:tableStyleId>
              </a:tblPr>
              <a:tblGrid>
                <a:gridCol w="2575400"/>
                <a:gridCol w="2575400"/>
              </a:tblGrid>
              <a:tr h="40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/>
                        <a:t>Albin Joy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/>
                        <a:t>250840130007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>
                          <a:solidFill>
                            <a:srgbClr val="222222"/>
                          </a:solidFill>
                        </a:rPr>
                        <a:t>Tejas Desale</a:t>
                      </a:r>
                      <a:endParaRPr sz="1700">
                        <a:solidFill>
                          <a:srgbClr val="222222"/>
                        </a:solidFill>
                      </a:endParaRPr>
                    </a:p>
                  </a:txBody>
                  <a:tcPr marT="895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/>
                        <a:t>250840130014</a:t>
                      </a:r>
                      <a:endParaRPr sz="1700"/>
                    </a:p>
                  </a:txBody>
                  <a:tcPr marT="895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>
                          <a:solidFill>
                            <a:srgbClr val="222222"/>
                          </a:solidFill>
                        </a:rPr>
                        <a:t>Jacob Mathew</a:t>
                      </a:r>
                      <a:endParaRPr sz="1700">
                        <a:solidFill>
                          <a:srgbClr val="222222"/>
                        </a:solidFill>
                      </a:endParaRPr>
                    </a:p>
                  </a:txBody>
                  <a:tcPr marT="895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/>
                        <a:t>250840130020</a:t>
                      </a:r>
                      <a:endParaRPr sz="1700"/>
                    </a:p>
                  </a:txBody>
                  <a:tcPr marT="895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>
                          <a:solidFill>
                            <a:srgbClr val="222222"/>
                          </a:solidFill>
                        </a:rPr>
                        <a:t>Nidhi Wasule</a:t>
                      </a:r>
                      <a:endParaRPr sz="1700">
                        <a:solidFill>
                          <a:srgbClr val="222222"/>
                        </a:solidFill>
                      </a:endParaRPr>
                    </a:p>
                  </a:txBody>
                  <a:tcPr marT="895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/>
                        <a:t>250840130030</a:t>
                      </a:r>
                      <a:endParaRPr sz="1700"/>
                    </a:p>
                  </a:txBody>
                  <a:tcPr marT="895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>
                          <a:solidFill>
                            <a:srgbClr val="222222"/>
                          </a:solidFill>
                        </a:rPr>
                        <a:t>Jaydeep Patil</a:t>
                      </a:r>
                      <a:endParaRPr sz="1700">
                        <a:solidFill>
                          <a:srgbClr val="222222"/>
                        </a:solidFill>
                      </a:endParaRPr>
                    </a:p>
                  </a:txBody>
                  <a:tcPr marT="895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700"/>
                        <a:t>250840130036</a:t>
                      </a:r>
                      <a:endParaRPr sz="1700"/>
                    </a:p>
                  </a:txBody>
                  <a:tcPr marT="895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Google Shape;59;p13"/>
          <p:cNvSpPr txBox="1"/>
          <p:nvPr/>
        </p:nvSpPr>
        <p:spPr>
          <a:xfrm>
            <a:off x="244200" y="18694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Submitted By: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99000" y="287800"/>
            <a:ext cx="85206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/>
              <a:t>Architecture</a:t>
            </a:r>
            <a:endParaRPr sz="292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380850"/>
            <a:ext cx="85206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Data acquisition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Machine Learning Model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Training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Deployment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Inference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Hot Swapability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Display and Debugging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Ad-on feature : Cloud Integration transferring acquired data to cloud.</a:t>
            </a:r>
            <a:endParaRPr sz="2000"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4091300" y="1871175"/>
            <a:ext cx="721200" cy="24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0" y="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highlight>
                  <a:schemeClr val="lt1"/>
                </a:highlight>
              </a:rPr>
              <a:t>Block Diagram</a:t>
            </a:r>
            <a:r>
              <a:rPr b="1" lang="en" sz="1900">
                <a:highlight>
                  <a:schemeClr val="lt1"/>
                </a:highlight>
              </a:rPr>
              <a:t>:</a:t>
            </a:r>
            <a:endParaRPr b="1" sz="2200">
              <a:highlight>
                <a:schemeClr val="lt1"/>
              </a:highlight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50" y="488150"/>
            <a:ext cx="8851901" cy="448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75" name="Google Shape;75;p15"/>
          <p:cNvSpPr txBox="1"/>
          <p:nvPr/>
        </p:nvSpPr>
        <p:spPr>
          <a:xfrm>
            <a:off x="4091300" y="1871175"/>
            <a:ext cx="721200" cy="24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ML1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091300" y="2227250"/>
            <a:ext cx="721200" cy="30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ML2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486550" y="1824575"/>
            <a:ext cx="1468800" cy="97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686450" y="1983800"/>
            <a:ext cx="765600" cy="7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15"/>
          <p:cNvCxnSpPr>
            <a:stCxn id="78" idx="1"/>
            <a:endCxn id="78" idx="3"/>
          </p:cNvCxnSpPr>
          <p:nvPr/>
        </p:nvCxnSpPr>
        <p:spPr>
          <a:xfrm>
            <a:off x="3686450" y="2378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5"/>
          <p:cNvSpPr txBox="1"/>
          <p:nvPr/>
        </p:nvSpPr>
        <p:spPr>
          <a:xfrm>
            <a:off x="3766550" y="2075900"/>
            <a:ext cx="6054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ML_1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708650" y="2473800"/>
            <a:ext cx="7212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ML_2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0" y="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chemeClr val="lt1"/>
                </a:highlight>
              </a:rPr>
              <a:t>Circuit</a:t>
            </a:r>
            <a:r>
              <a:rPr b="1" lang="en" sz="1900">
                <a:solidFill>
                  <a:schemeClr val="dk1"/>
                </a:solidFill>
                <a:highlight>
                  <a:schemeClr val="lt1"/>
                </a:highlight>
              </a:rPr>
              <a:t> Diagram:</a:t>
            </a:r>
            <a:endParaRPr sz="220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6400"/>
            <a:ext cx="8400076" cy="448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200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07300" y="773525"/>
            <a:ext cx="8520600" cy="3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collected : Temperature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Sensor used :</a:t>
            </a:r>
            <a:r>
              <a:rPr lang="en"/>
              <a:t>DHT11 Digital Temperature and Humidity Sensor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Protocol definitio</a:t>
            </a:r>
            <a:r>
              <a:rPr lang="en"/>
              <a:t>n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single-wire proprietary digital protocol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Start Signal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27272"/>
              <a:buChar char="○"/>
            </a:pPr>
            <a:r>
              <a:rPr b="1" lang="en" sz="1100">
                <a:solidFill>
                  <a:schemeClr val="dk1"/>
                </a:solidFill>
              </a:rPr>
              <a:t>Request:</a:t>
            </a:r>
            <a:r>
              <a:rPr lang="en" sz="1100">
                <a:solidFill>
                  <a:schemeClr val="dk1"/>
                </a:solidFill>
              </a:rPr>
              <a:t> The microcontroller pulls the data line </a:t>
            </a:r>
            <a:r>
              <a:rPr b="1" lang="en" sz="1100">
                <a:solidFill>
                  <a:schemeClr val="dk1"/>
                </a:solidFill>
              </a:rPr>
              <a:t>LOW</a:t>
            </a:r>
            <a:r>
              <a:rPr lang="en" sz="1100">
                <a:solidFill>
                  <a:schemeClr val="dk1"/>
                </a:solidFill>
              </a:rPr>
              <a:t> for at least 18 milliseconds. This "wakes up" the sensor.</a:t>
            </a:r>
            <a:endParaRPr sz="1100"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27272"/>
              <a:buChar char="○"/>
            </a:pPr>
            <a:r>
              <a:rPr b="1" lang="en" sz="1100">
                <a:solidFill>
                  <a:schemeClr val="dk1"/>
                </a:solidFill>
              </a:rPr>
              <a:t>Release:</a:t>
            </a:r>
            <a:r>
              <a:rPr lang="en" sz="1100">
                <a:solidFill>
                  <a:schemeClr val="dk1"/>
                </a:solidFill>
              </a:rPr>
              <a:t> The microcontroller pulls the line </a:t>
            </a:r>
            <a:r>
              <a:rPr b="1" lang="en" sz="1100">
                <a:solidFill>
                  <a:schemeClr val="dk1"/>
                </a:solidFill>
              </a:rPr>
              <a:t>HIGH</a:t>
            </a:r>
            <a:r>
              <a:rPr lang="en" sz="1100">
                <a:solidFill>
                  <a:schemeClr val="dk1"/>
                </a:solidFill>
              </a:rPr>
              <a:t> and waits for 20–40 microseconds for the sensor to respond.</a:t>
            </a:r>
            <a:endParaRPr sz="1100"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Response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27272"/>
              <a:buChar char="○"/>
            </a:pPr>
            <a:r>
              <a:rPr lang="en" sz="1100">
                <a:solidFill>
                  <a:schemeClr val="dk1"/>
                </a:solidFill>
              </a:rPr>
              <a:t>It pulls the line </a:t>
            </a:r>
            <a:r>
              <a:rPr b="1" lang="en" sz="1100">
                <a:solidFill>
                  <a:schemeClr val="dk1"/>
                </a:solidFill>
              </a:rPr>
              <a:t>LOW</a:t>
            </a:r>
            <a:r>
              <a:rPr lang="en" sz="1100">
                <a:solidFill>
                  <a:schemeClr val="dk1"/>
                </a:solidFill>
              </a:rPr>
              <a:t> for 80 microseconds.</a:t>
            </a:r>
            <a:endParaRPr sz="1100"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27272"/>
              <a:buChar char="○"/>
            </a:pPr>
            <a:r>
              <a:rPr lang="en" sz="1100">
                <a:solidFill>
                  <a:schemeClr val="dk1"/>
                </a:solidFill>
              </a:rPr>
              <a:t>It pulls the line </a:t>
            </a:r>
            <a:r>
              <a:rPr b="1" lang="en" sz="1100">
                <a:solidFill>
                  <a:schemeClr val="dk1"/>
                </a:solidFill>
              </a:rPr>
              <a:t>HIGH</a:t>
            </a:r>
            <a:r>
              <a:rPr lang="en" sz="1100">
                <a:solidFill>
                  <a:schemeClr val="dk1"/>
                </a:solidFill>
              </a:rPr>
              <a:t> for 80 microseconds.</a:t>
            </a:r>
            <a:endParaRPr sz="1100"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Packet - 40 bits(5 bytes)</a:t>
            </a:r>
            <a:endParaRPr/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Byte 1:</a:t>
            </a:r>
            <a:r>
              <a:rPr lang="en" sz="1100">
                <a:solidFill>
                  <a:schemeClr val="dk1"/>
                </a:solidFill>
              </a:rPr>
              <a:t> First byte of relative humidity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Byte 2:</a:t>
            </a:r>
            <a:r>
              <a:rPr lang="en" sz="1100">
                <a:solidFill>
                  <a:schemeClr val="dk1"/>
                </a:solidFill>
              </a:rPr>
              <a:t> Second byte of relative humidity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Byte 3:</a:t>
            </a:r>
            <a:r>
              <a:rPr lang="en" sz="1100">
                <a:solidFill>
                  <a:schemeClr val="dk1"/>
                </a:solidFill>
              </a:rPr>
              <a:t> First byte of temperature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Byte 4:</a:t>
            </a:r>
            <a:r>
              <a:rPr lang="en" sz="1100">
                <a:solidFill>
                  <a:schemeClr val="dk1"/>
                </a:solidFill>
              </a:rPr>
              <a:t> Second byte of temperature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Byte 5:</a:t>
            </a:r>
            <a:r>
              <a:rPr lang="en" sz="1100">
                <a:solidFill>
                  <a:schemeClr val="dk1"/>
                </a:solidFill>
              </a:rPr>
              <a:t> Checksum byte for data validatio</a:t>
            </a:r>
            <a:r>
              <a:rPr lang="en" sz="1100">
                <a:solidFill>
                  <a:schemeClr val="dk1"/>
                </a:solidFill>
              </a:rPr>
              <a:t>n</a:t>
            </a:r>
            <a:br>
              <a:rPr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Temperature (°C) = ((Byte3 &lt;&lt; 8) | Byte 4)/10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18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Model requirements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Needs two models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Model 1 - Low accuracy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Model 2 - High accuracy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Training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Temperature classifier developed using Tensorflow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Uses Synthetically generated data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Generates a </a:t>
            </a:r>
            <a:r>
              <a:rPr i="1" lang="en"/>
              <a:t>.tflite</a:t>
            </a:r>
            <a:r>
              <a:rPr lang="en"/>
              <a:t> file containing the model.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Deployment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Uses X-Cube-AI as a middleware layer in STM32CubeIDE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X-Cube-AI converts .tflite file to </a:t>
            </a:r>
            <a:r>
              <a:rPr lang="en">
                <a:solidFill>
                  <a:srgbClr val="595959"/>
                </a:solidFill>
                <a:highlight>
                  <a:schemeClr val="lt1"/>
                </a:highlight>
              </a:rPr>
              <a:t>associated</a:t>
            </a:r>
            <a:r>
              <a:rPr lang="en">
                <a:solidFill>
                  <a:srgbClr val="595959"/>
                </a:solidFill>
                <a:highlight>
                  <a:schemeClr val="lt1"/>
                </a:highlight>
              </a:rPr>
              <a:t> C arrays and functions</a:t>
            </a:r>
            <a:endParaRPr>
              <a:solidFill>
                <a:srgbClr val="595959"/>
              </a:solidFill>
              <a:highlight>
                <a:schemeClr val="lt1"/>
              </a:highlight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Inference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highlight>
                  <a:schemeClr val="lt1"/>
                </a:highlight>
              </a:rPr>
              <a:t>Uses functions generated by X-Cube-AI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23" y="879575"/>
            <a:ext cx="4838749" cy="40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2585100" y="268350"/>
            <a:ext cx="3973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Design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20"/>
          <p:cNvGraphicFramePr/>
          <p:nvPr/>
        </p:nvGraphicFramePr>
        <p:xfrm>
          <a:off x="1115300" y="76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{6D036259-4A5F-4EC2-B1B8-132D9515B8A7}</a:tableStyleId>
              </a:tblPr>
              <a:tblGrid>
                <a:gridCol w="6913400"/>
              </a:tblGrid>
              <a:tr h="1903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ML Model 1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Training Set Size = 300 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Accuracy=85%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1830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ML Model 2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Training Set Size = 600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Accuracy=99%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5" name="Google Shape;115;p20"/>
          <p:cNvSpPr txBox="1"/>
          <p:nvPr/>
        </p:nvSpPr>
        <p:spPr>
          <a:xfrm>
            <a:off x="606325" y="229425"/>
            <a:ext cx="37383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22222"/>
                </a:solidFill>
              </a:rPr>
              <a:t>Accuracies after model training:</a:t>
            </a:r>
            <a:endParaRPr b="1" sz="18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2761" l="0" r="0" t="0"/>
          <a:stretch/>
        </p:blipFill>
        <p:spPr>
          <a:xfrm>
            <a:off x="196525" y="751388"/>
            <a:ext cx="4147625" cy="340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6950" y="765063"/>
            <a:ext cx="4147624" cy="337814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1594588" y="104475"/>
            <a:ext cx="13515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6245000" y="104475"/>
            <a:ext cx="13515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267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Hot-</a:t>
            </a:r>
            <a:r>
              <a:rPr lang="en"/>
              <a:t>Swapability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07300" y="772200"/>
            <a:ext cx="8520600" cy="26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Model swap not possible while application is running</a:t>
            </a:r>
            <a:endParaRPr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chemeClr val="lt1"/>
                </a:highlight>
              </a:rPr>
              <a:t>Model relies on generated C arrays and </a:t>
            </a:r>
            <a:r>
              <a:rPr lang="en">
                <a:highlight>
                  <a:schemeClr val="lt1"/>
                </a:highlight>
              </a:rPr>
              <a:t>associated</a:t>
            </a:r>
            <a:r>
              <a:rPr lang="en">
                <a:highlight>
                  <a:schemeClr val="lt1"/>
                </a:highlight>
              </a:rPr>
              <a:t> functions.</a:t>
            </a:r>
            <a:endParaRPr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chemeClr val="lt1"/>
                </a:highlight>
              </a:rPr>
              <a:t>Application lacks a dynamic linker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highlight>
                  <a:schemeClr val="lt1"/>
                </a:highlight>
              </a:rPr>
              <a:t>Model swap requires swapping between applications</a:t>
            </a:r>
            <a:endParaRPr b="1"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=&gt; We run 2 applications</a:t>
            </a:r>
            <a:endParaRPr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chemeClr val="lt1"/>
                </a:highlight>
              </a:rPr>
              <a:t>Application 1 - Running Model 1(Low accuracy)</a:t>
            </a:r>
            <a:endParaRPr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chemeClr val="lt1"/>
                </a:highlight>
              </a:rPr>
              <a:t>Application</a:t>
            </a:r>
            <a:r>
              <a:rPr lang="en">
                <a:highlight>
                  <a:schemeClr val="lt1"/>
                </a:highlight>
              </a:rPr>
              <a:t> 2 - Running Model 2(High accuracy)</a:t>
            </a:r>
            <a:endParaRPr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chemeClr val="lt1"/>
                </a:highlight>
              </a:rPr>
              <a:t>Uses Vector Table offset Register(VTOR) register in System Control Block(SCB) for Vector Table Relocation</a:t>
            </a:r>
            <a:endParaRPr>
              <a:highlight>
                <a:schemeClr val="lt1"/>
              </a:highlight>
            </a:endParaRPr>
          </a:p>
        </p:txBody>
      </p:sp>
      <p:graphicFrame>
        <p:nvGraphicFramePr>
          <p:cNvPr id="130" name="Google Shape;130;p22"/>
          <p:cNvGraphicFramePr/>
          <p:nvPr/>
        </p:nvGraphicFramePr>
        <p:xfrm>
          <a:off x="948100" y="331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{6D036259-4A5F-4EC2-B1B8-132D9515B8A7}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Application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Address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Application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0x0800 0000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Application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0x0802 0000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Switching Process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3544800" cy="33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Stack Pointer(MSB) needs to be stored at the first memory location of the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Vector table needs to be at an offset of app_address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reset_handler is a function pointer that points to the location of reset interrupt vector(app_address+4)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200" y="1406013"/>
            <a:ext cx="49720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and Debugging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0.96 inch Yellow-Blue Display Module(Driver: SSD1306)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library: </a:t>
            </a:r>
            <a:r>
              <a:rPr lang="en">
                <a:solidFill>
                  <a:srgbClr val="595959"/>
                </a:solidFill>
                <a:highlight>
                  <a:srgbClr val="F6F8FA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afiskon</a:t>
            </a:r>
            <a:r>
              <a:rPr lang="en">
                <a:solidFill>
                  <a:srgbClr val="595959"/>
                </a:solidFill>
                <a:highlight>
                  <a:srgbClr val="F6F8FA"/>
                </a:highlight>
              </a:rPr>
              <a:t>/</a:t>
            </a:r>
            <a:r>
              <a:rPr lang="en">
                <a:solidFill>
                  <a:srgbClr val="595959"/>
                </a:solidFill>
                <a:highlight>
                  <a:srgbClr val="F6F8FA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stm32-ssd1306</a:t>
            </a:r>
            <a:endParaRPr sz="2100">
              <a:solidFill>
                <a:srgbClr val="595959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Debugging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FTDI232 for UART transmission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 messages printed on PuTTY</a:t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2525" y="1269975"/>
            <a:ext cx="1476225" cy="148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89450" y="-62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UART Logs:</a:t>
            </a:r>
            <a:endParaRPr b="1" sz="1800"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 rotWithShape="1">
          <a:blip r:embed="rId3">
            <a:alphaModFix/>
          </a:blip>
          <a:srcRect b="1090" l="-560" r="559" t="-1090"/>
          <a:stretch/>
        </p:blipFill>
        <p:spPr>
          <a:xfrm>
            <a:off x="0" y="490862"/>
            <a:ext cx="9144000" cy="473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Integration(Ad-on feature)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Transfers temperature data from STM32F407VGT6 to ESP32 Dev Module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Uses SPI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STM32 Discovery Module =&gt; Master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ESP32 Dev Module =&gt; Slave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ESP32 Dev Module acts as a gateway between STM32 Discovery Board and the cloud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ESP32 Dev Module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Connects to an Acce</a:t>
            </a:r>
            <a:r>
              <a:rPr lang="en">
                <a:highlight>
                  <a:schemeClr val="lt1"/>
                </a:highlight>
              </a:rPr>
              <a:t>ss Point with access to the internet</a:t>
            </a:r>
            <a:endParaRPr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chemeClr val="lt1"/>
                </a:highlight>
              </a:rPr>
              <a:t>Performs POST request to transfer json data to AWS API gateway</a:t>
            </a:r>
            <a:endParaRPr>
              <a:highlight>
                <a:schemeClr val="lt1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highlight>
                  <a:schemeClr val="lt1"/>
                </a:highlight>
              </a:rPr>
              <a:t>POST /data -&gt; ESP32 to Cloud</a:t>
            </a:r>
            <a:endParaRPr>
              <a:highlight>
                <a:schemeClr val="lt1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highlight>
                  <a:schemeClr val="lt1"/>
                </a:highlight>
              </a:rPr>
              <a:t>Response gets printed on serial monitor</a:t>
            </a:r>
            <a:endParaRPr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chemeClr val="lt1"/>
                </a:highlight>
              </a:rPr>
              <a:t>AWS API gateway </a:t>
            </a:r>
            <a:r>
              <a:rPr lang="en">
                <a:highlight>
                  <a:schemeClr val="lt1"/>
                </a:highlight>
              </a:rPr>
              <a:t>invokes a </a:t>
            </a:r>
            <a:r>
              <a:rPr lang="en">
                <a:highlight>
                  <a:schemeClr val="lt1"/>
                </a:highlight>
              </a:rPr>
              <a:t>lambda function on AWS lambda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00" y="787400"/>
            <a:ext cx="8480550" cy="44860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309675" y="130900"/>
            <a:ext cx="488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E</a:t>
            </a:r>
            <a:r>
              <a:rPr b="1" lang="en" sz="1800"/>
              <a:t>sp32 Serial Monitor Logs: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00" y="594950"/>
            <a:ext cx="8588552" cy="44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/>
        </p:nvSpPr>
        <p:spPr>
          <a:xfrm>
            <a:off x="260850" y="106475"/>
            <a:ext cx="4823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CloudWatch logs: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9"/>
          <p:cNvPicPr preferRelativeResize="0"/>
          <p:nvPr/>
        </p:nvPicPr>
        <p:blipFill rotWithShape="1">
          <a:blip r:embed="rId3">
            <a:alphaModFix/>
          </a:blip>
          <a:srcRect b="11801" l="0" r="0" t="0"/>
          <a:stretch/>
        </p:blipFill>
        <p:spPr>
          <a:xfrm>
            <a:off x="140175" y="1104900"/>
            <a:ext cx="3629025" cy="42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391538" y="430625"/>
            <a:ext cx="3126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MODEL 1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84" name="Google Shape;184;p29" title="model_2.jpeg"/>
          <p:cNvPicPr preferRelativeResize="0"/>
          <p:nvPr/>
        </p:nvPicPr>
        <p:blipFill rotWithShape="1">
          <a:blip r:embed="rId4">
            <a:alphaModFix/>
          </a:blip>
          <a:srcRect b="5900" l="0" r="0" t="5900"/>
          <a:stretch/>
        </p:blipFill>
        <p:spPr>
          <a:xfrm>
            <a:off x="5128325" y="1220650"/>
            <a:ext cx="3629025" cy="42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/>
          <p:nvPr/>
        </p:nvSpPr>
        <p:spPr>
          <a:xfrm>
            <a:off x="5379675" y="430625"/>
            <a:ext cx="3126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MODEL 2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3258975" y="114700"/>
            <a:ext cx="22839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Results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OTA firmware update for model swapping using built-in cloud 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implement ability to </a:t>
            </a:r>
            <a:r>
              <a:rPr lang="en"/>
              <a:t>receive</a:t>
            </a:r>
            <a:r>
              <a:rPr lang="en"/>
              <a:t> data on STM32F407VGT6 from ESP32 Dev Module.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Needs ability for erasing and writing to flash memory of STM32F407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Needs the ability to verify the received firmware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ESP32 Dev Module needs to be able to </a:t>
            </a:r>
            <a:r>
              <a:rPr lang="en"/>
              <a:t>receive binary file from the cloud</a:t>
            </a:r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 You !!!</a:t>
            </a:r>
            <a:endParaRPr sz="3000"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851" y="200825"/>
            <a:ext cx="1991374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/>
          <p:nvPr/>
        </p:nvSpPr>
        <p:spPr>
          <a:xfrm>
            <a:off x="134975" y="4628825"/>
            <a:ext cx="8865250" cy="371325"/>
          </a:xfrm>
          <a:prstGeom prst="flowChartProcess">
            <a:avLst/>
          </a:prstGeom>
          <a:solidFill>
            <a:srgbClr val="1199CC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200025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